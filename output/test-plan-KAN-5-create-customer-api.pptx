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7315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9DC3E6"/>
                </a:solidFill>
                <a:latin typeface="Calibri"/>
              </a:rPr>
              <a:t>QA TEST PLAN  ·  REVIEW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KAN-5: Create Customer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0">
                <a:solidFill>
                  <a:srgbClr val="D6E4F0"/>
                </a:solidFill>
                <a:latin typeface="Calibri"/>
              </a:rPr>
              <a:t>POST /api/v1/customers — REST API test plan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9DC3E6"/>
                </a:solidFill>
                <a:latin typeface="Calibri"/>
              </a:rPr>
              <a:t>Draft for review  ·  Story · Medium  ·  Status: To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F2C94C"/>
                </a:solidFill>
                <a:latin typeface="Calibri"/>
              </a:rPr>
              <a:t>Status: </a:t>
            </a:r>
            <a:r>
              <a:rPr sz="1300" b="0">
                <a:solidFill>
                  <a:srgbClr val="FFFFFF"/>
                </a:solidFill>
                <a:latin typeface="Calibri"/>
              </a:rPr>
              <a:t>DRAFT — pending human approval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9DC3E6"/>
                </a:solidFill>
                <a:latin typeface="Calibri"/>
              </a:rPr>
              <a:t>Prepared from: </a:t>
            </a:r>
            <a:r>
              <a:rPr sz="1300" b="0">
                <a:solidFill>
                  <a:srgbClr val="FFFFFF"/>
                </a:solidFill>
                <a:latin typeface="Calibri"/>
              </a:rPr>
              <a:t>JIRA KAN-5 (fetched live) + requirement checklist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9DC3E6"/>
                </a:solidFill>
                <a:latin typeface="Calibri"/>
              </a:rPr>
              <a:t>Owner: </a:t>
            </a:r>
            <a:r>
              <a:rPr sz="1300" b="0">
                <a:solidFill>
                  <a:srgbClr val="FFFFFF"/>
                </a:solidFill>
                <a:latin typeface="Calibri"/>
              </a:rPr>
              <a:t>QA — approval required before test-case authoring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9DC3E6"/>
                </a:solidFill>
                <a:latin typeface="Calibri"/>
              </a:rPr>
              <a:t>Generated for review  ·  Not a final approved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Calibri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What is being 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1094415" cy="15240"/>
          </a:xfrm>
          <a:prstGeom prst="rect">
            <a:avLst/>
          </a:prstGeom>
          <a:solidFill>
            <a:srgbClr val="BBC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94415" cy="22860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74B5"/>
                </a:solidFill>
                <a:latin typeface="Calibri"/>
              </a:rPr>
              <a:t>IN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10637215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2E74B5"/>
                </a:solidFill>
                <a:latin typeface="Calibri"/>
              </a:rPr>
              <a:t>▸ </a:t>
            </a:r>
            <a:r>
              <a:rPr sz="1250" b="0">
                <a:solidFill>
                  <a:srgbClr val="262626"/>
                </a:solidFill>
                <a:latin typeface="Calibri"/>
              </a:rPr>
              <a:t>POST /api/v1/customers — create a customer via REST API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2E74B5"/>
                </a:solidFill>
                <a:latin typeface="Calibri"/>
              </a:rPr>
              <a:t>▸ </a:t>
            </a:r>
            <a:r>
              <a:rPr sz="1250" b="0">
                <a:solidFill>
                  <a:srgbClr val="262626"/>
                </a:solidFill>
                <a:latin typeface="Calibri"/>
              </a:rPr>
              <a:t>Authentication via Authorization: Bearer &lt;token&gt; (missing / invalid → 401)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2E74B5"/>
                </a:solidFill>
                <a:latin typeface="Calibri"/>
              </a:rPr>
              <a:t>▸ </a:t>
            </a:r>
            <a:r>
              <a:rPr sz="1250" b="0">
                <a:solidFill>
                  <a:srgbClr val="262626"/>
                </a:solidFill>
                <a:latin typeface="Calibri"/>
              </a:rPr>
              <a:t>Validation: mandatory fields, email format, phone format (AC2, AC3, AC6)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2E74B5"/>
                </a:solidFill>
                <a:latin typeface="Calibri"/>
              </a:rPr>
              <a:t>▸ </a:t>
            </a:r>
            <a:r>
              <a:rPr sz="1250" b="0">
                <a:solidFill>
                  <a:srgbClr val="262626"/>
                </a:solidFill>
                <a:latin typeface="Calibri"/>
              </a:rPr>
              <a:t>Duplicate-email handling → 409; unexpected server error → 500 (no internals)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2E74B5"/>
                </a:solidFill>
                <a:latin typeface="Calibri"/>
              </a:rPr>
              <a:t>▸ </a:t>
            </a:r>
            <a:r>
              <a:rPr sz="1250" b="0">
                <a:solidFill>
                  <a:srgbClr val="262626"/>
                </a:solidFill>
                <a:latin typeface="Calibri"/>
              </a:rPr>
              <a:t>Response contract (201 + customerId + ACTIVE + createdAt) and JSON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11094415" cy="1600200"/>
          </a:xfrm>
          <a:prstGeom prst="rect">
            <a:avLst/>
          </a:prstGeom>
          <a:solidFill>
            <a:srgbClr val="F5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87367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0504D"/>
                </a:solidFill>
                <a:latin typeface="Calibri"/>
              </a:rPr>
              <a:t>OUT OF SCOPE (per ticket)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34839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2E74B5"/>
                </a:solidFill>
                <a:latin typeface="Calibri"/>
              </a:rPr>
              <a:t>▸ </a:t>
            </a:r>
            <a:r>
              <a:rPr sz="1250" b="0">
                <a:solidFill>
                  <a:srgbClr val="262626"/>
                </a:solidFill>
                <a:latin typeface="Calibri"/>
              </a:rPr>
              <a:t>Updating a customer  ·  Deleting a customer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>
                <a:solidFill>
                  <a:srgbClr val="2E74B5"/>
                </a:solidFill>
                <a:latin typeface="Calibri"/>
              </a:rPr>
              <a:t>▸ </a:t>
            </a:r>
            <a:r>
              <a:rPr sz="1250" b="0">
                <a:solidFill>
                  <a:srgbClr val="262626"/>
                </a:solidFill>
                <a:latin typeface="Calibri"/>
              </a:rPr>
              <a:t>Customer authentication / registration  ·  Post-creation email 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1F3A5F"/>
                </a:solidFill>
                <a:latin typeface="Calibri"/>
              </a:rPr>
              <a:t>Objective: </a:t>
            </a:r>
            <a:r>
              <a:rPr sz="1250" b="0">
                <a:solidFill>
                  <a:srgbClr val="262626"/>
                </a:solidFill>
                <a:latin typeface="Calibri"/>
              </a:rPr>
              <a:t>“Tested” = the AC1–AC8 contract holds for this endpoint — downstream consumption of the created customer is not verified 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Test Plan — KAN-5 Create Customer API  |  DRAFT — pending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Calibri"/>
              </a:rPr>
              <a:t>GAP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Gaps &amp; Questions for the author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1094415" cy="15240"/>
          </a:xfrm>
          <a:prstGeom prst="rect">
            <a:avLst/>
          </a:prstGeom>
          <a:solidFill>
            <a:srgbClr val="BBC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94415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90472"/>
            <a:ext cx="457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Sev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490472"/>
            <a:ext cx="1920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490472"/>
            <a:ext cx="5120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Finding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490472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Question to author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92224"/>
            <a:ext cx="11094415" cy="65836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65376"/>
            <a:ext cx="457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BF8F00"/>
                </a:solidFill>
                <a:latin typeface="Calibri"/>
              </a:rP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865376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Phone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86537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Calibri"/>
              </a:rPr>
              <a:t>AC6: “required length” — exact digits / + / - / length undefined.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865376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Calibri"/>
              </a:rPr>
              <a:t>What is the exact allowed phone format?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450592"/>
            <a:ext cx="1109441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523744"/>
            <a:ext cx="457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BF8F00"/>
                </a:solidFill>
                <a:latin typeface="Calibri"/>
              </a:rPr>
              <a:t>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523744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Mandatory fields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252374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Calibri"/>
              </a:rPr>
              <a:t>AC2 lists first/last/email only; body sample also has phone + DOB.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52374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Calibri"/>
              </a:rPr>
              <a:t>Are phone and dateOfBirth required?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08960"/>
            <a:ext cx="11094415" cy="65836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182112"/>
            <a:ext cx="457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BF8F00"/>
                </a:solidFill>
                <a:latin typeface="Calibri"/>
              </a:rPr>
              <a:t>⚠️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182112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Email duplicates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18211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Calibri"/>
              </a:rPr>
              <a:t>AC4 → 409. Case-insensitive? Trimmed? What about inactive customers?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3182112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Calibri"/>
              </a:rPr>
              <a:t>How is “already exists” defined?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767328"/>
            <a:ext cx="1109441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840480"/>
            <a:ext cx="457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0504D"/>
                </a:solidFill>
                <a:latin typeface="Calibri"/>
              </a:rPr>
              <a:t>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840480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Error body contract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384048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Calibri"/>
              </a:rPr>
              <a:t>No schema for 400/401/409/500 bodies (“appropriate message”).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840480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Calibri"/>
              </a:rPr>
              <a:t>What is the error response schema?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425696"/>
            <a:ext cx="11094415" cy="65836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498848"/>
            <a:ext cx="457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BF8F00"/>
                </a:solidFill>
                <a:latin typeface="Calibri"/>
              </a:rPr>
              <a:t>⚠️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498848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Roles / token scope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49884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Calibri"/>
              </a:rPr>
              <a:t>“Valid authenticated request” — any user, or a required role/scope?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49884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Calibri"/>
              </a:rPr>
              <a:t>Which scopes may create customers?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084064"/>
            <a:ext cx="1109441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157216"/>
            <a:ext cx="457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BF8F00"/>
                </a:solidFill>
                <a:latin typeface="Calibri"/>
              </a:rPr>
              <a:t>⚠️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5157216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Idempotency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15721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Calibri"/>
              </a:rPr>
              <a:t>No retry key or duplicate guidance.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157216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Calibri"/>
              </a:rPr>
              <a:t>Can a client retry safely?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742432"/>
            <a:ext cx="11094415" cy="65836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815584"/>
            <a:ext cx="457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BF8F00"/>
                </a:solidFill>
                <a:latin typeface="Calibri"/>
              </a:rPr>
              <a:t>⚠️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20" y="5815584"/>
            <a:ext cx="1920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F3A5F"/>
                </a:solidFill>
                <a:latin typeface="Calibri"/>
              </a:rPr>
              <a:t>Environment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5815584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Calibri"/>
              </a:rPr>
              <a:t>No test env, build, or API version identified in the ticket.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815584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262626"/>
                </a:solidFill>
                <a:latin typeface="Calibri"/>
              </a:rPr>
              <a:t>Which environment/version to test?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465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16 findings total — this slide shows the highest-impact ones. Full table in the plan doc (section 2).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Test Plan — KAN-5 Create Customer API  |  DRAFT — pending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Calibri"/>
              </a:rPr>
              <a:t>TEST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27 scenarios — P0/P1/P2, each traced to an AC or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1094415" cy="15240"/>
          </a:xfrm>
          <a:prstGeom prst="rect">
            <a:avLst/>
          </a:prstGeom>
          <a:solidFill>
            <a:srgbClr val="BBC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94415" cy="32918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90472"/>
            <a:ext cx="731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90472"/>
            <a:ext cx="731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Pri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490472"/>
            <a:ext cx="1280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490472"/>
            <a:ext cx="6583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1490472"/>
            <a:ext cx="1920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Trace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792224"/>
            <a:ext cx="11094415" cy="47548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47088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F3A5F"/>
                </a:solidFill>
                <a:latin typeface="Calibri"/>
              </a:rPr>
              <a:t>TS-1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847088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0504D"/>
                </a:solidFill>
                <a:latin typeface="Calibri"/>
              </a:rPr>
              <a:t>P0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847088"/>
            <a:ext cx="1280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Positive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847088"/>
            <a:ext cx="6583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Valid request with all fields → 201 + customerId + ACTIVE + createdAt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1847088"/>
            <a:ext cx="1920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Calibri"/>
              </a:rPr>
              <a:t>AC1, AC7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267712"/>
            <a:ext cx="11094415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322576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F3A5F"/>
                </a:solidFill>
                <a:latin typeface="Calibri"/>
              </a:rPr>
              <a:t>TS-4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2322576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0504D"/>
                </a:solidFill>
                <a:latin typeface="Calibri"/>
              </a:rPr>
              <a:t>P0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322576"/>
            <a:ext cx="1280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22576"/>
            <a:ext cx="6583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Missing firstName → 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2322576"/>
            <a:ext cx="1920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Calibri"/>
              </a:rPr>
              <a:t>AC2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743200"/>
            <a:ext cx="11094415" cy="47548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798064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F3A5F"/>
                </a:solidFill>
                <a:latin typeface="Calibri"/>
              </a:rPr>
              <a:t>TS-8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2798064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0504D"/>
                </a:solidFill>
                <a:latin typeface="Calibri"/>
              </a:rPr>
              <a:t>P0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2798064"/>
            <a:ext cx="1280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Negative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798064"/>
            <a:ext cx="6583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Invalid email (not-an-email) → 400 + validation message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2798064"/>
            <a:ext cx="1920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Calibri"/>
              </a:rPr>
              <a:t>AC3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218688"/>
            <a:ext cx="11094415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273552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F3A5F"/>
                </a:solidFill>
                <a:latin typeface="Calibri"/>
              </a:rPr>
              <a:t>TS-11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3273552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0504D"/>
                </a:solidFill>
                <a:latin typeface="Calibri"/>
              </a:rPr>
              <a:t>P0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3273552"/>
            <a:ext cx="1280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Negative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3273552"/>
            <a:ext cx="6583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Duplicate email of existing customer → 409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3273552"/>
            <a:ext cx="1920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Calibri"/>
              </a:rPr>
              <a:t>AC4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694176"/>
            <a:ext cx="11094415" cy="47548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749040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F3A5F"/>
                </a:solidFill>
                <a:latin typeface="Calibri"/>
              </a:rPr>
              <a:t>TS-12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3749040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0504D"/>
                </a:solidFill>
                <a:latin typeface="Calibri"/>
              </a:rPr>
              <a:t>P0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3749040"/>
            <a:ext cx="1280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Negative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3749040"/>
            <a:ext cx="6583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Missing Authorization header → 401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3749040"/>
            <a:ext cx="1920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Calibri"/>
              </a:rPr>
              <a:t>AC5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169664"/>
            <a:ext cx="11094415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224528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F3A5F"/>
                </a:solidFill>
                <a:latin typeface="Calibri"/>
              </a:rPr>
              <a:t>TS-15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63040" y="4224528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C0504D"/>
                </a:solidFill>
                <a:latin typeface="Calibri"/>
              </a:rPr>
              <a:t>P0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4224528"/>
            <a:ext cx="1280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Negative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4224528"/>
            <a:ext cx="6583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Phone with non-numeric chars → 400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20" y="4224528"/>
            <a:ext cx="1920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Calibri"/>
              </a:rPr>
              <a:t>AC6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645152"/>
            <a:ext cx="11094415" cy="47548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700016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F3A5F"/>
                </a:solidFill>
                <a:latin typeface="Calibri"/>
              </a:rPr>
              <a:t>TS-19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4700016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F8F00"/>
                </a:solidFill>
                <a:latin typeface="Calibri"/>
              </a:rPr>
              <a:t>P1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4700016"/>
            <a:ext cx="1280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Negative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0" y="4700016"/>
            <a:ext cx="6583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Unexpected server error → 500, no stack / sensitive data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32720" y="4700016"/>
            <a:ext cx="1920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Calibri"/>
              </a:rPr>
              <a:t>AC8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120640"/>
            <a:ext cx="11094415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5175504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F3A5F"/>
                </a:solidFill>
                <a:latin typeface="Calibri"/>
              </a:rPr>
              <a:t>TS-18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3040" y="5175504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F8F00"/>
                </a:solidFill>
                <a:latin typeface="Calibri"/>
              </a:rPr>
              <a:t>P1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86000" y="5175504"/>
            <a:ext cx="1280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Positive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0" y="5175504"/>
            <a:ext cx="6583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Response is application/json; body matches AC7 schema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2720" y="5175504"/>
            <a:ext cx="1920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Calibri"/>
              </a:rPr>
              <a:t>AC7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596128"/>
            <a:ext cx="11094415" cy="47548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650992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F3A5F"/>
                </a:solidFill>
                <a:latin typeface="Calibri"/>
              </a:rPr>
              <a:t>TS-23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63040" y="5650992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E7D32"/>
                </a:solidFill>
                <a:latin typeface="Calibri"/>
              </a:rPr>
              <a:t>P2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86000" y="5650992"/>
            <a:ext cx="1280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Positive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0" y="5650992"/>
            <a:ext cx="6583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Repeated identical requests → duplicates or idempotent per contract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32720" y="5650992"/>
            <a:ext cx="1920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Calibri"/>
              </a:rPr>
              <a:t>Q9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6071616"/>
            <a:ext cx="11094415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6126480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F3A5F"/>
                </a:solidFill>
                <a:latin typeface="Calibri"/>
              </a:rPr>
              <a:t>TS-25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463040" y="6126480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F8F00"/>
                </a:solidFill>
                <a:latin typeface="Calibri"/>
              </a:rPr>
              <a:t>P1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86000" y="6126480"/>
            <a:ext cx="1280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Security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57600" y="6126480"/>
            <a:ext cx="6583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Confirm no sensitive fields (email/phone/DOB) in application logs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32720" y="6126480"/>
            <a:ext cx="1920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Calibri"/>
              </a:rPr>
              <a:t>NFR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6547104"/>
            <a:ext cx="11094415" cy="475488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6601968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F3A5F"/>
                </a:solidFill>
                <a:latin typeface="Calibri"/>
              </a:rPr>
              <a:t>TS-26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463040" y="6601968"/>
            <a:ext cx="731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E7D32"/>
                </a:solidFill>
                <a:latin typeface="Calibri"/>
              </a:rPr>
              <a:t>P2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286000" y="6601968"/>
            <a:ext cx="12801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Performance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57600" y="6601968"/>
            <a:ext cx="65836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62626"/>
                </a:solidFill>
                <a:latin typeface="Calibri"/>
              </a:rPr>
              <a:t>Smoke: p95 response time &lt; 2s under agreed load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332720" y="6601968"/>
            <a:ext cx="19202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Calibri"/>
              </a:rPr>
              <a:t>NFR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7077456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Full table in plan doc section 3 — includes boundary, malformed-JSON, whitespace, phone-length and role-scope cases.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Test Plan — KAN-5 Create Customer API  |  DRAFT — pending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Calibri"/>
              </a:rPr>
              <a:t>TEST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Data, environment &amp;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1094415" cy="15240"/>
          </a:xfrm>
          <a:prstGeom prst="rect">
            <a:avLst/>
          </a:prstGeom>
          <a:solidFill>
            <a:srgbClr val="BBC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3545738" cy="36576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18488"/>
            <a:ext cx="317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74B5"/>
                </a:solidFill>
                <a:latin typeface="Calibri"/>
              </a:rPr>
              <a:t>TEST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179978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Calibri"/>
              </a:rPr>
              <a:t>▸ </a:t>
            </a:r>
            <a:r>
              <a:rPr sz="1150" b="0">
                <a:solidFill>
                  <a:srgbClr val="262626"/>
                </a:solidFill>
                <a:latin typeface="Calibri"/>
              </a:rPr>
              <a:t>Valid body from ticket (Rajesh Rao sample)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Calibri"/>
              </a:rPr>
              <a:t>▸ </a:t>
            </a:r>
            <a:r>
              <a:rPr sz="1150" b="0">
                <a:solidFill>
                  <a:srgbClr val="262626"/>
                </a:solidFill>
                <a:latin typeface="Calibri"/>
              </a:rPr>
              <a:t>Invalid emails: not-an-email, a@b, user@.com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Calibri"/>
              </a:rPr>
              <a:t>▸ </a:t>
            </a:r>
            <a:r>
              <a:rPr sz="1150" b="0">
                <a:solidFill>
                  <a:srgbClr val="262626"/>
                </a:solidFill>
                <a:latin typeface="Calibri"/>
              </a:rPr>
              <a:t>Phones: 9876543210, 123-456-7890, 98765, +91…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Calibri"/>
              </a:rPr>
              <a:t>▸ </a:t>
            </a:r>
            <a:r>
              <a:rPr sz="1150" b="0">
                <a:solidFill>
                  <a:srgbClr val="262626"/>
                </a:solidFill>
                <a:latin typeface="Calibri"/>
              </a:rPr>
              <a:t>Edge: empty / whitespace, {} , malformed JSON, oversized payload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Calibri"/>
              </a:rPr>
              <a:t>▸ </a:t>
            </a:r>
            <a:r>
              <a:rPr sz="1150" b="0">
                <a:solidFill>
                  <a:srgbClr val="262626"/>
                </a:solidFill>
                <a:latin typeface="Calibri"/>
              </a:rPr>
              <a:t>Duplicate: pre-seed rajesh.rao@example.com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978" y="1508760"/>
            <a:ext cx="3545738" cy="36576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5858" y="1618488"/>
            <a:ext cx="317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74B5"/>
                </a:solidFill>
                <a:latin typeface="Calibri"/>
              </a:rPr>
              <a:t>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5858" y="1965960"/>
            <a:ext cx="3179978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Calibri"/>
              </a:rPr>
              <a:t>▸ </a:t>
            </a:r>
            <a:r>
              <a:rPr sz="1150" b="1">
                <a:solidFill>
                  <a:srgbClr val="1F3A5F"/>
                </a:solidFill>
                <a:latin typeface="Calibri"/>
              </a:rPr>
              <a:t>[Environment Details Required]</a:t>
            </a:r>
            <a:r>
              <a:rPr sz="1150" b="0">
                <a:solidFill>
                  <a:srgbClr val="262626"/>
                </a:solidFill>
                <a:latin typeface="Calibri"/>
              </a:rPr>
              <a:t>— none in ticket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Calibri"/>
              </a:rPr>
              <a:t>▸ </a:t>
            </a:r>
            <a:r>
              <a:rPr sz="1150" b="0">
                <a:solidFill>
                  <a:srgbClr val="262626"/>
                </a:solidFill>
                <a:latin typeface="Calibri"/>
              </a:rPr>
              <a:t>HTTPS base URL only (from NFR)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Calibri"/>
              </a:rPr>
              <a:t>▸ </a:t>
            </a:r>
            <a:r>
              <a:rPr sz="1150" b="0">
                <a:solidFill>
                  <a:srgbClr val="262626"/>
                </a:solidFill>
                <a:latin typeface="Calibri"/>
              </a:rPr>
              <a:t>No build / API version identified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Calibri"/>
              </a:rPr>
              <a:t>▸ </a:t>
            </a:r>
            <a:r>
              <a:rPr sz="1150" b="1">
                <a:solidFill>
                  <a:srgbClr val="1F3A5F"/>
                </a:solidFill>
                <a:latin typeface="Calibri"/>
              </a:rPr>
              <a:t>Reset/cleanse</a:t>
            </a:r>
            <a:r>
              <a:rPr sz="1150" b="0">
                <a:solidFill>
                  <a:srgbClr val="262626"/>
                </a:solidFill>
                <a:latin typeface="Calibri"/>
              </a:rPr>
              <a:t> customer data between runs to re-test duplicate email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7316" y="1508760"/>
            <a:ext cx="3545738" cy="365760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0196" y="1618488"/>
            <a:ext cx="317997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74B5"/>
                </a:solidFill>
                <a:latin typeface="Calibri"/>
              </a:rPr>
              <a:t>ROLES &amp; PERMISSIONS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0196" y="1965960"/>
            <a:ext cx="3179978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Calibri"/>
              </a:rPr>
              <a:t>▸ </a:t>
            </a:r>
            <a:r>
              <a:rPr sz="1150" b="0">
                <a:solidFill>
                  <a:srgbClr val="262626"/>
                </a:solidFill>
                <a:latin typeface="Calibri"/>
              </a:rPr>
              <a:t>Valid Bearer token — scope to be confirmed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Calibri"/>
              </a:rPr>
              <a:t>▸ </a:t>
            </a:r>
            <a:r>
              <a:rPr sz="1150" b="0">
                <a:solidFill>
                  <a:srgbClr val="262626"/>
                </a:solidFill>
                <a:latin typeface="Calibri"/>
              </a:rPr>
              <a:t>Missing / invalid / expired / revoked tokens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1">
                <a:solidFill>
                  <a:srgbClr val="2E74B5"/>
                </a:solidFill>
                <a:latin typeface="Calibri"/>
              </a:rPr>
              <a:t>▸ </a:t>
            </a:r>
            <a:r>
              <a:rPr sz="1150" b="1">
                <a:solidFill>
                  <a:srgbClr val="1F3A5F"/>
                </a:solidFill>
                <a:latin typeface="Calibri"/>
              </a:rPr>
              <a:t>Role/permission matrix</a:t>
            </a:r>
            <a:r>
              <a:rPr sz="1150" b="0">
                <a:solidFill>
                  <a:srgbClr val="262626"/>
                </a:solidFill>
                <a:latin typeface="Calibri"/>
              </a:rPr>
              <a:t> not yet confirmed (Q7)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Test Plan — KAN-5 Create Customer API  |  DRAFT — pending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2E74B5"/>
                </a:solidFill>
                <a:latin typeface="Calibri"/>
              </a:rPr>
              <a:t>READINESS &amp;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Entry / Exit criteria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11094415" cy="15240"/>
          </a:xfrm>
          <a:prstGeom prst="rect">
            <a:avLst/>
          </a:prstGeom>
          <a:solidFill>
            <a:srgbClr val="BBC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63040"/>
            <a:ext cx="11094415" cy="2331720"/>
          </a:xfrm>
          <a:prstGeom prst="rect">
            <a:avLst/>
          </a:prstGeom>
          <a:solidFill>
            <a:srgbClr val="EA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74B5"/>
                </a:solidFill>
                <a:latin typeface="Calibri"/>
              </a:rPr>
              <a:t>ENTRY — testing can start when…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1063721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Calibri"/>
              </a:rPr>
              <a:t>▸ </a:t>
            </a:r>
            <a:r>
              <a:rPr sz="1200" b="0">
                <a:solidFill>
                  <a:srgbClr val="262626"/>
                </a:solidFill>
                <a:latin typeface="Calibri"/>
              </a:rPr>
              <a:t>KAN-5 code merged &amp; deployed to the identified test environment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Calibri"/>
              </a:rPr>
              <a:t>▸ </a:t>
            </a:r>
            <a:r>
              <a:rPr sz="1200" b="0">
                <a:solidFill>
                  <a:srgbClr val="262626"/>
                </a:solidFill>
                <a:latin typeface="Calibri"/>
              </a:rPr>
              <a:t>Environment URL + API version confirmed (currently missing from ticket)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Calibri"/>
              </a:rPr>
              <a:t>▸ </a:t>
            </a:r>
            <a:r>
              <a:rPr sz="1200" b="0">
                <a:solidFill>
                  <a:srgbClr val="262626"/>
                </a:solidFill>
                <a:latin typeface="Calibri"/>
              </a:rPr>
              <a:t>Valid Bearer token for a permitted test user available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Calibri"/>
              </a:rPr>
              <a:t>▸ </a:t>
            </a:r>
            <a:r>
              <a:rPr sz="1200" b="0">
                <a:solidFill>
                  <a:srgbClr val="262626"/>
                </a:solidFill>
                <a:latin typeface="Calibri"/>
              </a:rPr>
              <a:t>Ability to reset/cleanse customer data (needed to re-test duplicate email)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Calibri"/>
              </a:rPr>
              <a:t>▸ </a:t>
            </a:r>
            <a:r>
              <a:rPr sz="1200" b="0">
                <a:solidFill>
                  <a:srgbClr val="262626"/>
                </a:solidFill>
                <a:latin typeface="Calibri"/>
              </a:rPr>
              <a:t>Key gaps answered: phone format, mandatory fields, error schema, token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11094415" cy="2331720"/>
          </a:xfrm>
          <a:prstGeom prst="rect">
            <a:avLst/>
          </a:prstGeom>
          <a:solidFill>
            <a:srgbClr val="E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087367"/>
            <a:ext cx="106372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2E7D32"/>
                </a:solidFill>
                <a:latin typeface="Calibri"/>
              </a:rPr>
              <a:t>EXIT — testing is done when…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34839"/>
            <a:ext cx="1063721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Calibri"/>
              </a:rPr>
              <a:t>▸ </a:t>
            </a:r>
            <a:r>
              <a:rPr sz="1200" b="0">
                <a:solidFill>
                  <a:srgbClr val="262626"/>
                </a:solidFill>
                <a:latin typeface="Calibri"/>
              </a:rPr>
              <a:t>All P0 scenarios (TS-1, TS-4…TS-13, TS-15, TS-19) executed and passed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Calibri"/>
              </a:rPr>
              <a:t>▸ </a:t>
            </a:r>
            <a:r>
              <a:rPr sz="1200" b="0">
                <a:solidFill>
                  <a:srgbClr val="262626"/>
                </a:solidFill>
                <a:latin typeface="Calibri"/>
              </a:rPr>
              <a:t>400 / 401 / 409 / 500 negative cases verified against the confirmed contract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Calibri"/>
              </a:rPr>
              <a:t>▸ </a:t>
            </a:r>
            <a:r>
              <a:rPr sz="1200" b="0">
                <a:solidFill>
                  <a:srgbClr val="262626"/>
                </a:solidFill>
                <a:latin typeface="Calibri"/>
              </a:rPr>
              <a:t>Critical/Blocker defects fixed and re-tested; remaining defects documented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Calibri"/>
              </a:rPr>
              <a:t>▸ </a:t>
            </a:r>
            <a:r>
              <a:rPr sz="1200" b="0">
                <a:solidFill>
                  <a:srgbClr val="262626"/>
                </a:solidFill>
                <a:latin typeface="Calibri"/>
              </a:rPr>
              <a:t>Performance smoke (TS-26) recorded against the 95% &lt; 2s target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2E74B5"/>
                </a:solidFill>
                <a:latin typeface="Calibri"/>
              </a:rPr>
              <a:t>▸ </a:t>
            </a:r>
            <a:r>
              <a:rPr sz="1200" b="0">
                <a:solidFill>
                  <a:srgbClr val="262626"/>
                </a:solidFill>
                <a:latin typeface="Calibri"/>
              </a:rPr>
              <a:t>QA owner sign-off obtained on plan and execution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95959"/>
                </a:solidFill>
                <a:latin typeface="Calibri"/>
              </a:rPr>
              <a:t>Test Plan — KAN-5 Create Customer API  |  DRAFT — pending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9DC3E6"/>
                </a:solidFill>
                <a:latin typeface="Calibri"/>
              </a:rPr>
              <a:t>HUMAN REVIEW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This plan is a draft. A human owns sign-off.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3393338" cy="26517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3393338" cy="457200"/>
          </a:xfrm>
          <a:prstGeom prst="rect">
            <a:avLst/>
          </a:prstGeom>
          <a:solidFill>
            <a:srgbClr val="2A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0275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 ASSUMED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302757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BFD7EE"/>
                </a:solidFill>
                <a:latin typeface="Calibri"/>
              </a:rPr>
              <a:t>• </a:t>
            </a:r>
            <a:r>
              <a:rPr sz="1150" b="0">
                <a:solidFill>
                  <a:srgbClr val="FFFFFF"/>
                </a:solidFill>
                <a:latin typeface="Calibri"/>
              </a:rPr>
              <a:t>phone &amp; dateOfBirth are optional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BFD7EE"/>
                </a:solidFill>
                <a:latin typeface="Calibri"/>
              </a:rPr>
              <a:t>• </a:t>
            </a:r>
            <a:r>
              <a:rPr sz="1150" b="0">
                <a:solidFill>
                  <a:srgbClr val="FFFFFF"/>
                </a:solidFill>
                <a:latin typeface="Calibri"/>
              </a:rPr>
              <a:t>Error bodies are structured JSON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BFD7EE"/>
                </a:solidFill>
                <a:latin typeface="Calibri"/>
              </a:rPr>
              <a:t>• </a:t>
            </a:r>
            <a:r>
              <a:rPr sz="1150" b="0">
                <a:solidFill>
                  <a:srgbClr val="FFFFFF"/>
                </a:solidFill>
                <a:latin typeface="Calibri"/>
              </a:rPr>
              <a:t>createdAt is server UTC time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BFD7EE"/>
                </a:solidFill>
                <a:latin typeface="Calibri"/>
              </a:rPr>
              <a:t>• </a:t>
            </a:r>
            <a:r>
              <a:rPr sz="1150" b="0">
                <a:solidFill>
                  <a:srgbClr val="FFFFFF"/>
                </a:solidFill>
                <a:latin typeface="Calibri"/>
              </a:rPr>
              <a:t>HTTPS is enforced at gateway/API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9178" y="2286000"/>
            <a:ext cx="3393338" cy="26517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9178" y="2286000"/>
            <a:ext cx="3393338" cy="457200"/>
          </a:xfrm>
          <a:prstGeom prst="rect">
            <a:avLst/>
          </a:prstGeom>
          <a:solidFill>
            <a:srgbClr val="2A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2058" y="2377440"/>
            <a:ext cx="30275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 COULD NOT CONFIRM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880360"/>
            <a:ext cx="302757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BFD7EE"/>
                </a:solidFill>
                <a:latin typeface="Calibri"/>
              </a:rPr>
              <a:t>• </a:t>
            </a:r>
            <a:r>
              <a:rPr sz="1150" b="0">
                <a:solidFill>
                  <a:srgbClr val="FFFFFF"/>
                </a:solidFill>
                <a:latin typeface="Calibri"/>
              </a:rPr>
              <a:t>Exact phone format &amp; length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BFD7EE"/>
                </a:solidFill>
                <a:latin typeface="Calibri"/>
              </a:rPr>
              <a:t>• </a:t>
            </a:r>
            <a:r>
              <a:rPr sz="1150" b="0">
                <a:solidFill>
                  <a:srgbClr val="FFFFFF"/>
                </a:solidFill>
                <a:latin typeface="Calibri"/>
              </a:rPr>
              <a:t>Duplicate-email case/trim rules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BFD7EE"/>
                </a:solidFill>
                <a:latin typeface="Calibri"/>
              </a:rPr>
              <a:t>• </a:t>
            </a:r>
            <a:r>
              <a:rPr sz="1150" b="0">
                <a:solidFill>
                  <a:srgbClr val="FFFFFF"/>
                </a:solidFill>
                <a:latin typeface="Calibri"/>
              </a:rPr>
              <a:t>Error-response schema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BFD7EE"/>
                </a:solidFill>
                <a:latin typeface="Calibri"/>
              </a:rPr>
              <a:t>• </a:t>
            </a:r>
            <a:r>
              <a:rPr sz="1150" b="0">
                <a:solidFill>
                  <a:srgbClr val="FFFFFF"/>
                </a:solidFill>
                <a:latin typeface="Calibri"/>
              </a:rPr>
              <a:t>Token scope / roles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BFD7EE"/>
                </a:solidFill>
                <a:latin typeface="Calibri"/>
              </a:rPr>
              <a:t>• </a:t>
            </a:r>
            <a:r>
              <a:rPr sz="1150" b="0">
                <a:solidFill>
                  <a:srgbClr val="FFFFFF"/>
                </a:solidFill>
                <a:latin typeface="Calibri"/>
              </a:rPr>
              <a:t>Test environment &amp; build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49716" y="2286000"/>
            <a:ext cx="3393338" cy="26517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49716" y="2286000"/>
            <a:ext cx="3393338" cy="457200"/>
          </a:xfrm>
          <a:prstGeom prst="rect">
            <a:avLst/>
          </a:prstGeom>
          <a:solidFill>
            <a:srgbClr val="2A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2596" y="2377440"/>
            <a:ext cx="30275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BLOCKS SIGN-OFF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2596" y="2880360"/>
            <a:ext cx="3027578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BFD7EE"/>
                </a:solidFill>
                <a:latin typeface="Calibri"/>
              </a:rPr>
              <a:t>• </a:t>
            </a:r>
            <a:r>
              <a:rPr sz="1150" b="0">
                <a:solidFill>
                  <a:srgbClr val="FFFFFF"/>
                </a:solidFill>
                <a:latin typeface="Calibri"/>
              </a:rPr>
              <a:t>Phone format (Q1)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BFD7EE"/>
                </a:solidFill>
                <a:latin typeface="Calibri"/>
              </a:rPr>
              <a:t>• </a:t>
            </a:r>
            <a:r>
              <a:rPr sz="1150" b="0">
                <a:solidFill>
                  <a:srgbClr val="FFFFFF"/>
                </a:solidFill>
                <a:latin typeface="Calibri"/>
              </a:rPr>
              <a:t>Mandatory fields: phone/DOB (Q2/Q3)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BFD7EE"/>
                </a:solidFill>
                <a:latin typeface="Calibri"/>
              </a:rPr>
              <a:t>• </a:t>
            </a:r>
            <a:r>
              <a:rPr sz="1150" b="0">
                <a:solidFill>
                  <a:srgbClr val="FFFFFF"/>
                </a:solidFill>
                <a:latin typeface="Calibri"/>
              </a:rPr>
              <a:t>Error-body contract (Q6)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BFD7EE"/>
                </a:solidFill>
                <a:latin typeface="Calibri"/>
              </a:rPr>
              <a:t>• </a:t>
            </a:r>
            <a:r>
              <a:rPr sz="1150" b="0">
                <a:solidFill>
                  <a:srgbClr val="FFFFFF"/>
                </a:solidFill>
                <a:latin typeface="Calibri"/>
              </a:rPr>
              <a:t>Token scope (Q7)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BFD7EE"/>
                </a:solidFill>
                <a:latin typeface="Calibri"/>
              </a:rPr>
              <a:t>• </a:t>
            </a:r>
            <a:r>
              <a:rPr sz="1150" b="0">
                <a:solidFill>
                  <a:srgbClr val="FFFFFF"/>
                </a:solidFill>
                <a:latin typeface="Calibri"/>
              </a:rPr>
              <a:t>Test environment (Q15)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2C94C"/>
                </a:solidFill>
                <a:latin typeface="Calibri"/>
              </a:rPr>
              <a:t>→ </a:t>
            </a:r>
            <a:r>
              <a:rPr sz="1600" b="1">
                <a:solidFill>
                  <a:srgbClr val="FFFFFF"/>
                </a:solidFill>
                <a:latin typeface="Calibri"/>
              </a:rPr>
              <a:t>Approve this plan, or edit it, before I write test cases or automation.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BFD7EE"/>
                </a:solidFill>
                <a:latin typeface="Calibri"/>
              </a:rPr>
              <a:t>Next step after approval: derive executable test cases from TS-1…TS-27 and map them to the traceability matrix.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9DC3E6"/>
                </a:solidFill>
                <a:latin typeface="Calibri"/>
              </a:rPr>
              <a:t>Full detail: output/test-plan-KAN-5-create-customer-api.md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